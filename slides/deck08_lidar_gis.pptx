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2926080"/>
          </a:xfrm>
          <a:prstGeom prst="rect">
            <a:avLst/>
          </a:prstGeom>
          <a:solidFill>
            <a:srgbClr val="3D6B9F"/>
          </a:solidFill>
          <a:ln w="12700">
            <a:solidFill>
              <a:srgbClr val="3D6B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LiDAR, Hillshade and Susceptibility Mapping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through the forest: from point cloud to hazard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Session 3  |  Geomorphological Hazards of Slopes  |  Uni. Silesia, Katowice  |  Ola Fredin (NTNU)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LiDAR changed geomorphological mapping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LiDAR: photogrammetric DEMs at 5–20 m resolution, obscured by forest canopy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Airborne LiDAR: 1–10 pulses/m²; multi-return separates ground from vegetation; bare-earth DTM at 1–2 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m resolution: scarps, crowns, headscarps, terraces, lobes, pressure ridges — all visible through forest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 ISOK: national 0.6 pts/m² coverage (2013–2014), freely available at geoportal.gov.pl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 hoydedata.no: 2 pts/m² national coverage, updated regionally to 5–10 pts/m²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Revolution: national-scale landslide inventory mapping now feasible from a desktop GIS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LiDAR to bare-earth DTM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LiDAR processing chain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data: point cloud (LAS/LAZ format); each point has X, Y, Z, intensity, return number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first-return = top of canopy; last-return ≈ ground; ASPRS ground class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Bare-earth DTM: interpolate ground-classified points → raster at 0.5–2 m (TIN or IDW)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DTM (ground only), DSM (surface), CHM = DSM − DTM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tools: LAStools plugin, PDAL pipeline, or WhiteboxTools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check: compare to surveyed ground control points; RMSE &lt; 15 cm for ISOK data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Hillshade and multi-azimuth illumination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hillshade: single sun azimuth 315°, altitude 45° — fast but directional shadows hide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Multi-azimuth hillshade: average of hillshades from 8 azimuths (0°, 45°, …, 315°) at 45° altitude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Sky-view factor (SVF): fraction of visible sky dome at each point (Kokalj et al. 2011) — best for subtle morphology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Relief Model (LRM): DTM minus a smoothed trend — highlights small-scale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SVF or LRM + hillshade as overlay → identify scarps, toe bulges, back-tilted blocks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QGIS: Raster → Terrain Analysis → Hillshade; or Relief Visualisation Toolbox (RVT) plugin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Landslide inventory mapping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landslide inventory from LiDAR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units: point (centroid), polygon (outline), source + transport + deposit (three shapefiles)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schema (minimum): landslide ID, type (Hungr 2014), date/period, area, volume, data source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cues in LiDAR hillshade: arcuate or linear scarp, hummocky deposit, elongated lobe, back-tilted trees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Multi-temporal: overlay two LiDAR epochs to detect reactivation and new events (change detection)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field check a stratified random sample (10–20% of inventory) for type confirmation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lab (Notebook 08): digitise sources, tracks, deposits on a 1 m Tatra DTM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Susceptibility mapping approaches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/ geomorphological: overlay slope angle, lithology, land cover, LiDAR-mapped scarps — expert scoring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Statistical: logistic regression, weight-of-evidence, random forest — train on inventory, predict spatially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Physics-based: infinite-slope FS mapped across DEM with spatially variable soil parameters (SHALSTAB, TRIGRS)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physics-based FS as predictor variable in a statistical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ROC/AUC; spatial cross-validation essential (data are spatially autocorrelated)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susceptibility index map classified as low / medium / high / very high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α–β on a DEM profile: Notebooks 07 → 08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Profile Tool: extract elevation along a digitised centreline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fan apex (slope &lt; 15°) → measure β from the DTM profile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tanα = a tanβ + b  (Nora Andreassen NTNU 2026 coefficients)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 α line from source → predicted stopping distance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mapped deposit extent → validate α–β for this site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0" cy="3840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6344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deliverables (Notebook 08)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08 deliverables: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Hillshade map with digitised sources, tracks, deposits overlaid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shapefiles with consistent attribute schema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measurements and predicted α runout distances (Python cell)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One-paragraph interpretation: how well does α–β predict observed runout?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 zip (shapefiles + screenshot + notebook)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synthesis: from Terzaghi to the hazard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1: R = H × V × E — what we are trying to estimate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2–3: σ′ = σ − u and τ_f = c′ + σ′ tanφ′ — the physics of failure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4: FS equation — translating stress state into a scalar stability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5: FS(t) — rainfall drives pore pressure; ID thresholds capture it empirically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6–7: once failure occurs → trajectory, runout, hazard zone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8: LiDAR reveals evidence of past events; GIS maps future hazard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 contains everything: slope angle, curvature, flow direction, contributing area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bare-earth DTMs at 1–2 m reveal landslide morphology through forest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Multi-azimuth hillshade / SVF / LRM: best for scarp and lobe identification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 three-layer shapefile (source / track / deposit) + attribute schema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Susceptibility: heuristic → statistical → physics-based; validate with ROC/AUC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α–β on DEM profile: connects debris-flow runout theory (NB 07) to field data (NB 08)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chain: Terzaghi → FS → rainfall trigger → runout → LiDAR map → hazard zone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Jaboyedoff M et al. (2012) Nat. Hazards 61: 5-28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Kokalj Ž et al. (2011) Remote Sens. 3: 398-415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Guzzetti F et al. (2012) Earth-Sci. Rev. 112: 42-66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Westen CJ (2013) Treatise on Geomorphology vol. 3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Andreassen N (NTNU, 2026) MSc thesis — α–β coefficients for Norwegian debris flows (unpubl.)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LiDAR, Hillshade and Susceptibility Mapping</dc:title>
  <dc:subject>PptxGenJS Presentation</dc:subject>
  <dc:creator>Ola Fredin (NTNU)</dc:creator>
  <cp:lastModifiedBy>Ola Fredin (NTNU)</cp:lastModifiedBy>
  <cp:revision>1</cp:revision>
  <dcterms:created xsi:type="dcterms:W3CDTF">2026-05-29T07:03:19Z</dcterms:created>
  <dcterms:modified xsi:type="dcterms:W3CDTF">2026-05-29T07:03:19Z</dcterms:modified>
</cp:coreProperties>
</file>
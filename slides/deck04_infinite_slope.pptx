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Dry (m = 0)</c:v>
                </c:pt>
              </c:strCache>
            </c:strRef>
          </c:tx>
          <c:spPr>
            <a:solidFill>
              <a:srgbClr val="3D6B9F"/>
            </a:solidFill>
            <a:ln w="31750" cap="flat">
              <a:solidFill>
                <a:srgbClr val="3D6B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9F"/>
              </a:solidFill>
              <a:ln w="9525" cap="flat">
                <a:solidFill>
                  <a:srgbClr val="3D6B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28</c:v>
                  </c:pt>
                  <c:pt idx="6">
                    <c:v>30</c:v>
                  </c:pt>
                  <c:pt idx="7">
                    <c:v>32</c:v>
                  </c:pt>
                  <c:pt idx="8">
                    <c:v>35</c:v>
                  </c:pt>
                  <c:pt idx="9">
                    <c:v>38</c:v>
                  </c:pt>
                  <c:pt idx="10">
                    <c:v>40</c:v>
                  </c:pt>
                  <c:pt idx="11">
                    <c:v>45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4.5</c:v>
                </c:pt>
                <c:pt idx="1">
                  <c:v>3.02</c:v>
                </c:pt>
                <c:pt idx="2">
                  <c:v>1.98</c:v>
                </c:pt>
                <c:pt idx="3">
                  <c:v>1.46</c:v>
                </c:pt>
                <c:pt idx="4">
                  <c:v>1.14</c:v>
                </c:pt>
                <c:pt idx="5">
                  <c:v>1</c:v>
                </c:pt>
                <c:pt idx="6">
                  <c:v>0.92</c:v>
                </c:pt>
                <c:pt idx="7">
                  <c:v>0.85</c:v>
                </c:pt>
                <c:pt idx="8">
                  <c:v>0.76</c:v>
                </c:pt>
                <c:pt idx="9">
                  <c:v>0.68</c:v>
                </c:pt>
                <c:pt idx="10">
                  <c:v>0.63</c:v>
                </c:pt>
                <c:pt idx="11">
                  <c:v>0.53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Fully saturated (m = 1)</c:v>
                </c:pt>
              </c:strCache>
            </c:strRef>
          </c:tx>
          <c:spPr>
            <a:solidFill>
              <a:srgbClr val="E07030"/>
            </a:solidFill>
            <a:ln w="31750" cap="flat">
              <a:solidFill>
                <a:srgbClr val="E07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030"/>
              </a:solidFill>
              <a:ln w="9525" cap="flat">
                <a:solidFill>
                  <a:srgbClr val="E07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28</c:v>
                  </c:pt>
                  <c:pt idx="6">
                    <c:v>30</c:v>
                  </c:pt>
                  <c:pt idx="7">
                    <c:v>32</c:v>
                  </c:pt>
                  <c:pt idx="8">
                    <c:v>35</c:v>
                  </c:pt>
                  <c:pt idx="9">
                    <c:v>38</c:v>
                  </c:pt>
                  <c:pt idx="10">
                    <c:v>40</c:v>
                  </c:pt>
                  <c:pt idx="11">
                    <c:v>45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3.04</c:v>
                </c:pt>
                <c:pt idx="1">
                  <c:v>1.51</c:v>
                </c:pt>
                <c:pt idx="2">
                  <c:v>0.99</c:v>
                </c:pt>
                <c:pt idx="3">
                  <c:v>0.73</c:v>
                </c:pt>
                <c:pt idx="4">
                  <c:v>0.57</c:v>
                </c:pt>
                <c:pt idx="5">
                  <c:v>0.5</c:v>
                </c:pt>
                <c:pt idx="6">
                  <c:v>0.46</c:v>
                </c:pt>
                <c:pt idx="7">
                  <c:v>0.43</c:v>
                </c:pt>
                <c:pt idx="8">
                  <c:v>0.38</c:v>
                </c:pt>
                <c:pt idx="9">
                  <c:v>0.34</c:v>
                </c:pt>
                <c:pt idx="10">
                  <c:v>0.32</c:v>
                </c:pt>
                <c:pt idx="11">
                  <c:v>0.27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Slope angle β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Factor of Safety FS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Slope Stability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model of shallow-landslide hazard assessment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Session 1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infinite slope model?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 that captures the essential physics of a translational slide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assumptions: planar slip surface parallel to slope; uniform soil; end effects negligible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simplicity, embedded in every regional susceptibility model: SHALSTAB, TRIGRS, SINMAP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physical meaning; failure mechanism is unambiguous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curved surfaces, lateral boundaries, pipe flow — need more complex models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and the FS equation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slope geometry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angle β, soil thickness z (normal to slope), unit weight 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surface parallel to slope at depth 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table depth z_w below surface; saturated fraction m = (z − z_w) / z ∈ [0, 1]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assumed parallel to slope within the saturated zone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Stresses on slip surface:  σ_n = γz cos²β;   τ = γz sinβ cosβ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 pressure:  u = m γ_w z cos²β  (slope-parallel flow assumption)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infinite_slope_geome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slope cross-section: soil layer of depth z, water table at fraction m from the base.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of Safety: full form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shear strength (Mohr–Coulomb) over mobilised shear stress: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 =  c′ / (γz sinβ cosβ)  +  tanφ′ / tanβ  −  mγ_w tanφ′ / (γ tanβ)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Cohesionless soil (c′ = 0), dry (m = 0):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 =  tanφ′ / tanβ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FS = 1 when β = φ′ (angle of repose for cohesionless soil)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saturated, cohesionless (c′ = 0, m = 1):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4718304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1830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 =  (γ − γ_w) / γ  ·  tanφ′ / tanβ  ≈  0.5 · tanφ′ / tanβ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approximately halves FS in a cohesionless slope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vs slope angle for cohesionless soil (φ′ = 28°)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= 1.0 marks the failure threshold. Saturation halves FS for cohesionless soil.  c′ = 0, φ′ = 28°.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saturation parameter m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saturation controls stability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0: dry slope — maximum stability; FS determined only by β and φ′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0.5: half-saturated — common after short rain events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1.0: water table at surface — minimum stability; FS halved for cohesionless soils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c′ helps at small depths but decreases in relative importance as z increases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sensitivity to m near the critical angle β ≈ φ′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observation: Carpathian slides typically initiate when m → 1 during prolonged rainfall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failure depth for cohesive soils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FS = 1 and solve for z at given 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z_c  =  c′ / [ γ cosβ (tanβ − tanφ′) − m γ_w cosβ tanφ′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169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z_c is the depth at which a slope just reaches FS = 1 at given rainfall scenario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741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depth &gt; z_c: unstable;  depth &lt; z_c: stable (at that water table)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31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β → φ′ from above:  z_c → ∞  (cohesion alone stabilises the slope)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88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(SHALSTAB approach):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6402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z_c across a DEM: cells with soil depth &gt; z_c are classified as unstable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Montgomery &amp; Dietrich (1994) Water Resour. Res. — the basis for SHALSTAB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FS to regional susceptibility maps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(SHALSTAB)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SHALSTAB (Montgomery &amp; Dietrich 1994): infinite slope FS + steady-state hydrology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Topographic wetness index (TWI) predicts m from catchment area A and slope tanβ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instability index log(q/T) mapped across DEM — calibrate T to inventory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(TRIGRS) / Probabilistic (SINMAP)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TRIGRS (Baum et al. 2008): adds Iverson (2000) transient infiltration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SINMAP (Pack et al. 1998): probabilistic version with parameter uncertainty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the same FS core equation — only the hydrological model differs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04: build your own 1-D susceptibility profile along a DEM cross-section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Carpathian flysch (Notebook 04)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β = 28°,  z = 4.5 m,  γ = 20.5 kN/m³,  c′ = 8 kPa,  φ′ = 24°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(m = 0): FS = 0.42 + 0.84 = 1.26  (stable)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0.5: pore-pressure term subtracts 0.22  →  FS = 1.04  (marginal)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1.0: pore-pressure term subtracts 0.44  →  FS = 0.82  (FAILURE)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depth at m = 1:  z_c = 3.2 m — consistent with 3–5 m field observations in flysch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Slope Stability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full FS equation in Python; explore parameter sensitivity interactively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FS vs β, FS vs m, and the FS heatmap FS(β, m) with the FS = 1 isoline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z_c and plot critical-depth contours vs saturation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 flysch worked example: reproduce the dry → m = 1 transition numerically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build a 1-D susceptibility profile along a DEM cross-section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= c′/(γz sinβ cosβ) + tanφ′/tanβ − m(γ_w/γ)(tanφ′/tanβ)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cohesionless slope: FS = tanφ′/tanβ; fails when β = φ′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saturation (m = 1) approximately halves FS in cohesionless soils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depth z_c: soil deeper than z_c is unstable at given water table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SHALSTAB/TRIGRS embed this equation in a spatially distributed hydrological model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04 and 05 connect FS to a time-varying pore-pressure field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DW (1937) J. Boston Soc. Civ. Engrs 24: 197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DR &amp; Dietrich WE (1994) Water Resour. Res. 30: 1153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RL et al. (2008) USGS Open-File Rep. 2008-1159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RM (2000) Water Resour. Res. 36: 1897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RT, Tarboton DG &amp; Goodwin CN (1998) Proc. IUFRO Conf.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Slope Stability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
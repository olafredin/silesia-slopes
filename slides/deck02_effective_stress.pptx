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005840"/>
            <a:ext cx="64008" cy="2926080"/>
          </a:xfrm>
          <a:prstGeom prst="rect">
            <a:avLst/>
          </a:prstGeom>
          <a:solidFill>
            <a:srgbClr val="3D6B9F"/>
          </a:solidFill>
          <a:ln w="12700">
            <a:solidFill>
              <a:srgbClr val="3D6B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960120"/>
            <a:ext cx="8138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Effective Stress and Pore-Water Pressure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94360" y="27432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D6B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most important idea in soil mechanics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" y="43891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|  Session 2  |  Geomorphological Hazards of Slopes  |  Uni. Silesia, Katowice  |  Ola Fredin (NTNU)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lecture comes first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04672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Mohr–Coulomb strength, infinite-slope stability, and rainfall triggering all depend on one variable: σ′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cannot interpret slope failures without knowing how water changes effective stress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Terzaghi (1925; formalised 1943): the founding observation of geotechnical engineering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make σ′ = σ − u second nature before moving to failure criteria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3D6B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§1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1920240" y="155448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Terzaghi’s principle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Terzaghi’s principle of effective stress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6B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stress = effective stress + pore-water pressure: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97280" y="1572768"/>
            <a:ext cx="6949440" cy="685800"/>
          </a:xfrm>
          <a:prstGeom prst="rect">
            <a:avLst/>
          </a:prstGeom>
          <a:solidFill>
            <a:srgbClr val="F0F4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572768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  =  σ′  +  u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44144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  — total normal stress (weight of everything above the plane per unit area)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89864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  — pore-water pressure (pressure of water filling voids between grains)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35584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σ′  — effective stress (stress carried by grain skeleton at grain-to-grain contacts)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8130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6B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insight: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288536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cannot resist shear. Only the grain skeleton can. Shear strength depends on σ′, not σ.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97280" y="4745736"/>
            <a:ext cx="6949440" cy="685800"/>
          </a:xfrm>
          <a:prstGeom prst="rect">
            <a:avLst/>
          </a:prstGeom>
          <a:solidFill>
            <a:srgbClr val="F0F4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4745736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τ_f  =  c′  +  σ′ tan φ′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" y="44805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Terzaghi (1925) Erdbaumechanik; Terzaghi (1943) Theoretical Soil Mechanics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grain-skeleton picture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457200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saturated soil element = grain skeleton (solid) + pore water (fluid)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load σ shared: water carries u isotropically; grains carry σ′ = σ − u at contacts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Grains are nearly incompressible at engineering stresses — all deformation lives in the contacts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load rapidly (undrained): u rises, not σ′ — Skempton’s B parameter captures this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when drainage occurs (drained loading) does σ′ increase and the skeleton compress</a:t>
            </a:r>
            <a:endParaRPr lang="en-US" sz="1500" dirty="0"/>
          </a:p>
        </p:txBody>
      </p:sp>
      <p:pic>
        <p:nvPicPr>
          <p:cNvPr id="5" name="Image 0" descr="/sessions/eager-admiring-tesla/mnt/silesia-slopes/notebooks/figures/terzaghi_princip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12080" y="960120"/>
            <a:ext cx="3566160" cy="3200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212080" y="4206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Grain skeleton (brown) and pore water (blue). External load σ shared between u and grain-contact stress σ′.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3D6B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§2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1920240" y="155448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Vertical stress profiles</a:t>
            </a:r>
            <a:endParaRPr lang="en-US" sz="3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Stress profiles in a saturated soil column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04672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vertical stress:   σ_v(z) = γ z  (weight of soil above, per unit area)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Pore pressure below water table at depth z_w:   u(z) = γ_w (z − z_w)  for z &gt; z_w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vertical stress:   σ′_v(z) = σ_v − u = γ′ z  (below WT, where γ′ = γ − γ_w ≈ 10 kN/m³)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the water table (unsaturated zone): u &lt; 0 (suction) — slope strength enhanced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draw all three panels: σ_v (left), u (centre), σ′_v (right)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Effect of a rising water table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6B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rainfall (water table at depth z_w):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97280" y="1572768"/>
            <a:ext cx="6949440" cy="685800"/>
          </a:xfrm>
          <a:prstGeom prst="rect">
            <a:avLst/>
          </a:prstGeom>
          <a:solidFill>
            <a:srgbClr val="F0F4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572768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σ′  =  γ z  −  γ_w (z − z_w)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4414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6B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rainfall (water table rises to surface, z_w → 0):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97280" y="2916936"/>
            <a:ext cx="6949440" cy="685800"/>
          </a:xfrm>
          <a:prstGeom prst="rect">
            <a:avLst/>
          </a:prstGeom>
          <a:solidFill>
            <a:srgbClr val="F0F4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916936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σ′  =  (γ − γ_w) z  =  γ′ z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378561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6B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in effective stress at depth z: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97280" y="4261104"/>
            <a:ext cx="6949440" cy="685800"/>
          </a:xfrm>
          <a:prstGeom prst="rect">
            <a:avLst/>
          </a:prstGeom>
          <a:solidFill>
            <a:srgbClr val="F0F4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4261104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Δσ′  =  − γ_w z_w   &lt;  0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5129784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water table reduces σ′ while leaving σ unchanged — this is the rainfall-slide mechanism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4805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is unchanged; only u rises; σ′ falls — this is why pore pressure drives slope failure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canonical loading scenarios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6B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Drained / undrained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38862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Drained loading: slow; water drains; u unchanged; σ′ rises → strengthening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Undrained loading: rapid; no drainage; load goes to u; σ′ unchanged (short-term undrained strength c_u)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drawdown: reservoir lowered fast; seepage force reverses; u elevated; σ′ drops → destabilising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480560" y="914400"/>
            <a:ext cx="0" cy="3840480"/>
          </a:xfrm>
          <a:prstGeom prst="line">
            <a:avLst/>
          </a:prstGeom>
          <a:noFill/>
          <a:ln w="12700">
            <a:solidFill>
              <a:srgbClr val="DDDDDD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4663440" y="96012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6B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scenarios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663440" y="1371600"/>
            <a:ext cx="38862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Reservoir filling: water raises both σ and u; σ′ change depends on drainage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Flysch slopes: drainage times months to years → often partially drained during a storm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if loading is fast relative to t_c = H²/c_v, use undrained analysis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Pore pressure ratio r_u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04672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Normalised pore pressure ratio:   r_u = u / (γ z)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r_u = 0: dry slope — FS at its maximum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r_u = 0.5: half overburden carried by pore water — typical worst case for translational slides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r_u = 1.0: hydrostatic to the surface — effective stress → 0 at slip surface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infinite-slope model (Notebook 04): r_u maps directly to the saturation parameter m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models (SHALSTAB, TRIGRS): prescribe spatially variable r_u from a rainfall scenario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6B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 02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Effective Stress and Pore-Water Pressure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8229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91640"/>
            <a:ext cx="80467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σ_v, u, σ′_v for a user-specified soil column (γ, depth, water table position)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 water table rising during a storm — watch σ′ fall in real time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drained vs undrained response to a surface load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r_u for a Carpathian flysch case (γ = 21 kN/m³, z = 4 m, storm scenario)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figures: effective_stress_profile.svg, water_table_shift.svg, effective_stress_bars.svg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Points &amp; References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= σ′ + u  — Terzaghi (1925): the foundation of soil mechanics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Shear strength depends on σ′, never on σ alone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water table reduces σ′ while leaving σ unchanged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r_u = u/(γz) — convenient dimensionless pore-pressure ratio for FS calculations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Drained vs undrained: drainage time relative to loading rate controls which applies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notebooks 03–05 is a direct consequence of this principle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120640" y="960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6B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references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120640" y="1371600"/>
            <a:ext cx="3657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Terzaghi K (1925) Erdbaumechanik. Franz Deuticke, Wien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Terzaghi K (1943) Theoretical Soil Mechanics. Wiley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Skempton AW (1960) Géotechnique 10: 143-147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Craig RF (2004) Craig’s Soil Mechanics, 7th edn. Spon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Lambe TW &amp; Whitman RV (1969) Soil Mechanics. Wiley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Effective Stress and Pore-Water Pressure</dc:title>
  <dc:subject>PptxGenJS Presentation</dc:subject>
  <dc:creator>Ola Fredin (NTNU)</dc:creator>
  <cp:lastModifiedBy>Ola Fredin (NTNU)</cp:lastModifiedBy>
  <cp:revision>1</cp:revision>
  <dcterms:created xsi:type="dcterms:W3CDTF">2026-05-29T07:03:18Z</dcterms:created>
  <dcterms:modified xsi:type="dcterms:W3CDTF">2026-05-29T07:03:18Z</dcterms:modified>
</cp:coreProperties>
</file>
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= 80 (high mobility)</c:v>
                </c:pt>
              </c:strCache>
            </c:strRef>
          </c:tx>
          <c:spPr>
            <a:solidFill>
              <a:srgbClr val="3D6B9F"/>
            </a:solidFill>
            <a:ln w="25400" cap="flat">
              <a:solidFill>
                <a:srgbClr val="3D6B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6B9F"/>
              </a:solidFill>
              <a:ln w="9525" cap="flat">
                <a:solidFill>
                  <a:srgbClr val="3D6B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1k</c:v>
                  </c:pt>
                  <c:pt idx="1">
                    <c:v>3k</c:v>
                  </c:pt>
                  <c:pt idx="2">
                    <c:v>10k</c:v>
                  </c:pt>
                  <c:pt idx="3">
                    <c:v>30k</c:v>
                  </c:pt>
                  <c:pt idx="4">
                    <c:v>100k</c:v>
                  </c:pt>
                  <c:pt idx="5">
                    <c:v>300k</c:v>
                  </c:pt>
                  <c:pt idx="6">
                    <c:v>1000k</c:v>
                  </c:pt>
                  <c:pt idx="7">
                    <c:v>3000k</c:v>
                  </c:pt>
                  <c:pt idx="8">
                    <c:v>10000k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800</c:v>
                </c:pt>
                <c:pt idx="1">
                  <c:v>1154</c:v>
                </c:pt>
                <c:pt idx="2">
                  <c:v>1724</c:v>
                </c:pt>
                <c:pt idx="3">
                  <c:v>2486</c:v>
                </c:pt>
                <c:pt idx="4">
                  <c:v>3713</c:v>
                </c:pt>
                <c:pt idx="5">
                  <c:v>5355</c:v>
                </c:pt>
                <c:pt idx="6">
                  <c:v>8000</c:v>
                </c:pt>
                <c:pt idx="7">
                  <c:v>11538</c:v>
                </c:pt>
                <c:pt idx="8">
                  <c:v>17235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 = 50 (typical)</c:v>
                </c:pt>
              </c:strCache>
            </c:strRef>
          </c:tx>
          <c:spPr>
            <a:solidFill>
              <a:srgbClr val="E07030"/>
            </a:solidFill>
            <a:ln w="25400" cap="flat">
              <a:solidFill>
                <a:srgbClr val="E070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7030"/>
              </a:solidFill>
              <a:ln w="9525" cap="flat">
                <a:solidFill>
                  <a:srgbClr val="E070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1k</c:v>
                  </c:pt>
                  <c:pt idx="1">
                    <c:v>3k</c:v>
                  </c:pt>
                  <c:pt idx="2">
                    <c:v>10k</c:v>
                  </c:pt>
                  <c:pt idx="3">
                    <c:v>30k</c:v>
                  </c:pt>
                  <c:pt idx="4">
                    <c:v>100k</c:v>
                  </c:pt>
                  <c:pt idx="5">
                    <c:v>300k</c:v>
                  </c:pt>
                  <c:pt idx="6">
                    <c:v>1000k</c:v>
                  </c:pt>
                  <c:pt idx="7">
                    <c:v>3000k</c:v>
                  </c:pt>
                  <c:pt idx="8">
                    <c:v>10000k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500</c:v>
                </c:pt>
                <c:pt idx="1">
                  <c:v>721</c:v>
                </c:pt>
                <c:pt idx="2">
                  <c:v>1077</c:v>
                </c:pt>
                <c:pt idx="3">
                  <c:v>1554</c:v>
                </c:pt>
                <c:pt idx="4">
                  <c:v>2321</c:v>
                </c:pt>
                <c:pt idx="5">
                  <c:v>3347</c:v>
                </c:pt>
                <c:pt idx="6">
                  <c:v>5000</c:v>
                </c:pt>
                <c:pt idx="7">
                  <c:v>7211</c:v>
                </c:pt>
                <c:pt idx="8">
                  <c:v>10772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 = 30 (low mobility)</c:v>
                </c:pt>
              </c:strCache>
            </c:strRef>
          </c:tx>
          <c:spPr>
            <a:solidFill>
              <a:srgbClr val="40A060"/>
            </a:solidFill>
            <a:ln w="25400" cap="flat">
              <a:solidFill>
                <a:srgbClr val="40A0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0A060"/>
              </a:solidFill>
              <a:ln w="9525" cap="flat">
                <a:solidFill>
                  <a:srgbClr val="40A0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1k</c:v>
                  </c:pt>
                  <c:pt idx="1">
                    <c:v>3k</c:v>
                  </c:pt>
                  <c:pt idx="2">
                    <c:v>10k</c:v>
                  </c:pt>
                  <c:pt idx="3">
                    <c:v>30k</c:v>
                  </c:pt>
                  <c:pt idx="4">
                    <c:v>100k</c:v>
                  </c:pt>
                  <c:pt idx="5">
                    <c:v>300k</c:v>
                  </c:pt>
                  <c:pt idx="6">
                    <c:v>1000k</c:v>
                  </c:pt>
                  <c:pt idx="7">
                    <c:v>3000k</c:v>
                  </c:pt>
                  <c:pt idx="8">
                    <c:v>10000k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300</c:v>
                </c:pt>
                <c:pt idx="1">
                  <c:v>433</c:v>
                </c:pt>
                <c:pt idx="2">
                  <c:v>646</c:v>
                </c:pt>
                <c:pt idx="3">
                  <c:v>932</c:v>
                </c:pt>
                <c:pt idx="4">
                  <c:v>1392</c:v>
                </c:pt>
                <c:pt idx="5">
                  <c:v>2008</c:v>
                </c:pt>
                <c:pt idx="6">
                  <c:v>3000</c:v>
                </c:pt>
                <c:pt idx="7">
                  <c:v>4327</c:v>
                </c:pt>
                <c:pt idx="8">
                  <c:v>6463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55555"/>
                    </a:solidFill>
                    <a:latin typeface="Arial"/>
                  </a:rPr>
                  <a:t>Initiation volume V₀ (×10³ m³)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55555"/>
                    </a:solidFill>
                    <a:latin typeface="Arial"/>
                  </a:rPr>
                  <a:t>Runout length L (m)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05840"/>
            <a:ext cx="64008" cy="2926080"/>
          </a:xfrm>
          <a:prstGeom prst="rect">
            <a:avLst/>
          </a:prstGeom>
          <a:solidFill>
            <a:srgbClr val="3D6B9F"/>
          </a:solidFill>
          <a:ln w="12700">
            <a:solidFill>
              <a:srgbClr val="3D6B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Debris-Flow Runout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mobility and the fan — where people live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Session 2  |  Geomorphological Hazards of Slopes  |  Uni. Silesia, Katowice  |  Ola Fredin (NTNU)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debris flows are dangerous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saturated mixture of water, sediment and organic debris moving 1–10 m/s down a steep channel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rockfall: moves as a coherent mass AND grows by entraining channel bed — 10³ m³ → 20,000 m³ over 3 km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flood: carries boulders, destroys buildings, buries roads without warning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deposition fan is the preferred location for Tatra and Carpathian villages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impact: Stava (Italy) 1985 — 268 killed; Vargas (Venezuela) 1999 — 10,000+ killed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Europe: Tatras flash floods + debris flows 2001 (Małopolska), 2010 (Nizke Tatry)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debris-flow path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Three-zone anatomy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zone (slope 25–45°): shallow translational slide on saturated hollow; V₀ = 10³–10⁵ m³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/ entrainment zone (slope 10–30°): pre-existing channel; volume multiplies 2–10× by bed entrainment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Deposition zone (slope &lt; 10–12°): the fan; flow spreads, decelerates, deposits load; most settlements here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for hazard: for a given V₀, how far down the fan does the flow reach?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scaling laws give zero- or one-parameter answers from DEM + inventory</a:t>
            </a:r>
            <a:endParaRPr lang="en-US" sz="1500" dirty="0"/>
          </a:p>
        </p:txBody>
      </p:sp>
      <p:pic>
        <p:nvPicPr>
          <p:cNvPr id="5" name="Image 0" descr="/sessions/eager-admiring-tesla/mnt/silesia-slopes/notebooks/figures/debris_flow_anatom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960120"/>
            <a:ext cx="356616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zones along a longitudinal profile. Entrainment multiplies volume 2–10× in the transport zone. After Hungr et al. (2001).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Volume–runout scaling laws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Rickenmann (1999) and Iverson (1997) scaling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Rickenmann (1999): runout length scales with the cube root of volume: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 =  k · V^(1/3)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in metres, V in m³;  k — mobility coefficient: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986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Lahars (volcanic):  k = 100–150;   Mountain debris flows:  k = 30–80;   Hyper-concentrated:  k = 15–30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55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Corominas (1996): mobility ratio H/L in log–log space: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831336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831336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log(H/L)  =  a · log V  +  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7000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regression: a ≈ −0.16, b ≈ 0.02;   H/L ≈ 0.3–0.6 for debris flows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157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argument (Iverson 1997): same V^(1/3) exponent from inertial scaling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Rickenmann D (1999) Nat. Hazards 19: 47-77; Corominas J (1996) Eng. Geol. 43: 169-185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Runout length vs initiation volume: Rickenmann (1999) scaling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6012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k V^(1/3).  Shaded band reflects uncertainty in k.  Rickenmann (1999) Nat. Hazards.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§3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α–β analysis and Monte-Carlo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α–β method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angle: straight line from source to stopping point, measured from horizontal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angle: slope of channel bed where gradient decreases below ~15° (fan apex)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regression: tanα = a tanβ + b  — calibrate from regional inventory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 Andreassen (NTNU, unpublished MSc 2026): updated α–β coefficients for Norwegian debris flows — used in Notebook 08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only needs DEM + mapped inventory; applicable at regional scale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Notebook 08 lab: measure β from a 1 m LiDAR DTM and predict α → runout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Monte-Carlo runout for uncertain initiation volume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V₀ is rarely known precisely — multiple shallow slides may merge in the channel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sample V₀ from a log-normal distribution (CV ≈ 0.5–1.0 is typical)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V₀: compute L = k V₀^(1/3) with k also sampled from its uncertainty range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empirical CDF of L: P(L &gt; x) = probability of exceedance at distance x from fan apex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horizontal axis of a hazard zonation map on the fan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07: N = 1000 realisations in ~10 lines of Python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models: when scaling laws are not enough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 give one number: how far. Dynamic models give flow path, depth, velocity, pressure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Voellmy (1955): resistive force = μ σ_n + ρ g v² / ξ  (basal friction + turbulence)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RAMMS::Debris Flow (WSL, Switzerland): 2-D depth-averaged shallow-water + Voellmy rheology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FLO-2D (O’Brien et al.): viscous-inertial model; widely used for fans with complex topography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dynamic models: site-specific design of retention walls/check dams; complex fan topography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requirement: field-measured flow depths, velocities and runout for ≥2–3 events to calibrate μ and ξ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Debris-Flow Runout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Rickenmann (1999) and Corominas (1996) to a synthetic Tatra channel with known V₀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α–β regression: plot tanα vs tanβ and fit the linear relationship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Monte-Carlo for uncertain V₀: build the runout CDF and map P10, P50, P90 stopping positions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where do you draw the hazard zone boundary on the fan?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figures: debris_flow_volume_runout.svg, debris_flow_mobility.svg, runout_distribution.svg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 &amp;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flows grow in transit — a 10³ m³ initiation can deliver 10⁴–10⁵ m³ to the fan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Rickenmann (1999): L = k V^(1/3);  k = 30–80 for mountain debris flows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Corominas (1996): H/L mobility ratio — log(H/L) ≈ −0.16 log V + 0.02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α–β method: tanα = a tanβ + b, calibrated from regional inventory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Monte-Carlo: sample V₀ and k uncertainties → runout CDF → probabilistic hazard zones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models (RAMMS, FLO-2D) for site-specific design and complex fan topography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20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3716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Rickenmann D (1999) Nat. Hazards 19: 47-77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Iverson RM (1997) Rev. Geophys. 35: 245-296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Corominas J (1996) Eng. Geol. 43: 169-185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Hungr O et al. (2001) Can. Geotech. J. 38: 987-1004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Voellmy A (1955) Schweiz. Bauzeitung 73: 212-285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Christen M et al. (2010) Nat. Hazards Earth Syst. Sci. 10: 1357-1371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Debris-Flow Runout</dc:title>
  <dc:subject>PptxGenJS Presentation</dc:subject>
  <dc:creator>Ola Fredin (NTNU)</dc:creator>
  <cp:lastModifiedBy>Ola Fredin (NTNU)</cp:lastModifiedBy>
  <cp:revision>1</cp:revision>
  <dcterms:created xsi:type="dcterms:W3CDTF">2026-05-29T07:03:19Z</dcterms:created>
  <dcterms:modified xsi:type="dcterms:W3CDTF">2026-05-29T07:03:19Z</dcterms:modified>
</cp:coreProperties>
</file>
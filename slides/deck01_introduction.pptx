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N(&gt;A)</c:v>
                </c:pt>
              </c:strCache>
            </c:strRef>
          </c:tx>
          <c:spPr>
            <a:solidFill>
              <a:srgbClr val="3D6B9F"/>
            </a:solidFill>
            <a:ln w="31750" cap="flat">
              <a:solidFill>
                <a:srgbClr val="3D6B9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D6B9F"/>
              </a:solidFill>
              <a:ln w="9525" cap="flat">
                <a:solidFill>
                  <a:srgbClr val="3D6B9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0.1</c:v>
                  </c:pt>
                  <c:pt idx="1">
                    <c:v>0.4</c:v>
                  </c:pt>
                  <c:pt idx="2">
                    <c:v>1.6</c:v>
                  </c:pt>
                  <c:pt idx="3">
                    <c:v>6.3</c:v>
                  </c:pt>
                  <c:pt idx="4">
                    <c:v>25</c:v>
                  </c:pt>
                  <c:pt idx="5">
                    <c:v>100</c:v>
                  </c:pt>
                  <c:pt idx="6">
                    <c:v>400</c:v>
                  </c:pt>
                  <c:pt idx="7">
                    <c:v>1600</c:v>
                  </c:pt>
                  <c:pt idx="8">
                    <c:v>6300</c:v>
                  </c:pt>
                  <c:pt idx="9">
                    <c:v>25000</c:v>
                  </c:pt>
                  <c:pt idx="10">
                    <c:v>100000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100000</c:v>
                </c:pt>
                <c:pt idx="1">
                  <c:v>25000</c:v>
                </c:pt>
                <c:pt idx="2">
                  <c:v>6300</c:v>
                </c:pt>
                <c:pt idx="3">
                  <c:v>1600</c:v>
                </c:pt>
                <c:pt idx="4">
                  <c:v>400</c:v>
                </c:pt>
                <c:pt idx="5">
                  <c:v>100</c:v>
                </c:pt>
                <c:pt idx="6">
                  <c:v>25</c:v>
                </c:pt>
                <c:pt idx="7">
                  <c:v>6.3</c:v>
                </c:pt>
                <c:pt idx="8">
                  <c:v>1.6</c:v>
                </c:pt>
                <c:pt idx="9">
                  <c:v>0.4</c:v>
                </c:pt>
                <c:pt idx="10">
                  <c:v>0.1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55555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555555"/>
                    </a:solidFill>
                    <a:latin typeface="Arial"/>
                  </a:rPr>
                  <a:t>Landslide area (m², log scale)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555555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555555"/>
                    </a:solidFill>
                    <a:latin typeface="Arial"/>
                  </a:rPr>
                  <a:t>Cumulative count N(&gt;A)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05840"/>
            <a:ext cx="64008" cy="2926080"/>
          </a:xfrm>
          <a:prstGeom prst="rect">
            <a:avLst/>
          </a:prstGeom>
          <a:solidFill>
            <a:srgbClr val="3D6B9F"/>
          </a:solidFill>
          <a:ln w="12700">
            <a:solidFill>
              <a:srgbClr val="3D6B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960120"/>
            <a:ext cx="8138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Geomorphological Hazards of Slopes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94360" y="2743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Introduction: Hazard, Risk and Classification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4389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|  Session 1  |  Geomorphological Hazards of Slopes  |  Uni. Silesia, Katowice  |  Ola Fredin (NTNU)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hours over 3 days: Day 1 — fundamentals; Day 2 — stability &amp; triggers; Day 3 — runout &amp; mapping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Jupyter Notebooks run in parallel with the lectures — theory on the slides, computation in the notebooks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focus: Carpathians, Tatras, Sudetes, Norwegian fjord slopes and global hotspots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Assessment: notebook portfolio submitted after the course (2 ECTS)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Python 3.11+, QGIS 3.34 LTR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D6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§1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920240" y="15544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geohazard?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Hazard, vulnerability, exposure, risk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Geohazard: a natural process capable of causing harm to people, property or the environment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Varnes (1984) / UN-DHA decomposition:  R = H × V × 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(Hazard) — probability of a damaging event of given magnitude at a given location and 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(Vulnerability) — fraction of value lost when the event occurs  [0, 1]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(Exposure) — value of people and assets in the hazard zone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(Risk) — expected loss per unit time  (currency per year, or lives per year)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terms come from three different communities: geologists estimate H, engineers V, planners 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 equation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Varnes (1984) / UN International Strategy for Disaster Reduction: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1572768"/>
            <a:ext cx="6949440" cy="685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72768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 =  H  ×  V  ×  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4414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— hazard probability  (what the next 7 notebooks quantify)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986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— vulnerability fraction  (engineering and social science)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558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exposure value  (spatial planning and census data)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813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consequence: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28853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R requires reducing at least one of H, V or E.  Risk can be managed even when H is fixed.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Varnes (1984); UN-DHA (1992) RADIUS framework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D6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§2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920240" y="15544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Magnitude–frequency relationships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Landslide magnitude–frequency: a power law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960120"/>
          <a:ext cx="8229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power law N ∝ A^(−1.2) after Malamud et al. (2004) — Italian, US and Guatemalan inventories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power law matters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~100–1000 m² area: cumulative event count scales as  N(&gt;A) ∝ A^(−b),  b ≈ 1.0–1.5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events are the most frequent, but large events dominate cumulative sediment flux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Rollover at small sizes: physical suppression by cohesion + root strength, and under-mapping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return periods (10, 100, 500 yr) must account for this frequency distribution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Malamud et al. (2004): same exponent across Italy, the US and Guatemala → universal process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D6B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§3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920240" y="15544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Landslide classification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classify? The Varnes–Hungr framework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classification is a shared language: geologists, engineers and planners communicate unambiguously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Varnes (1978): movement-type × material grid — still the international standard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Hungr, Leroueil &amp; Picarelli (2014) updated it to 32 named types; eliminates ambiguous hybrids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type carries characteristic velocity, runout ratio H/L, water content, and failure mechanism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notebooks address 5 types: rock fall, debris fall, translational slide, debris flow, earth flow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Movement types (Hungr et al. 2014)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type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Fall: detachment from steep face; free fall and bouncing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Topple: rotation about a pivot at the block base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(rotational): curved slip surface — spoon-shaped scar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(translational): planar slip surface parallel to slope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Spread: lateral extension, generally in sensitive clays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plastic deformation — debris flow, earth flow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80560" y="914400"/>
            <a:ext cx="0" cy="3840480"/>
          </a:xfrm>
          <a:prstGeom prst="line">
            <a:avLst/>
          </a:prstGeom>
          <a:noFill/>
          <a:ln w="12700">
            <a:solidFill>
              <a:srgbClr val="DDDDDD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663440" y="9601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and properties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371600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Material: rock, debris (mixed coarse + fine), earth (fine-grained)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classes (WP/WLI): extremely slow (&lt;16 mm/yr) to extremely rapid (&gt;5 m/s)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Runout ratio H/L: rock falls ~0.6, rock avalanches &lt;0.3, debris flows 0.2–0.5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01 exercise: locate each type on the classification matrix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context: Central Europe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Carpathians: flysch sequences (sandstone–shale alternations) predisposed to translational sliding; ~5000 mapped slides in Poland alone (CGS inventory)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Tatras: steep glacially-carved valley walls; abundant rock fall and debris flows on talus cones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Sudetes: crystalline basement with deep weathering; slow earth flows in loess cover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regime: frontal rainfall systems + orographic enhancement — daily rainfall records frequently exceeded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Carpathian villages built on fan deposits: the deposit is evidence of past runout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context: Norwegian fjord slopes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Fjord walls reach 1000–1400 m above sea level with slope angles 35–55°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avalanches: Åknes (8 Mm³ actively deforming), Mannen — national early-warning systems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Quick-clay slides: Rissa 1978, Gjerdrum 2020 (10 fatalities)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Debris flows: steep gullied hillslopes after short high-intensity summer storms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challenge: roads and railways hug the fjord shore — directly in runout paths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Geohazards: Hazard, Risk and Classification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 = H × V × E calculator — vary each component and watch R respond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Magnitude–frequency plot: fit a power law to a synthetic inventory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matrix: place the 8 main process types in the Hungr et al. (2014) grid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2010 Bieszczady (Carpathians) slides — assign type, estimate H and 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figures: risk_decomposition.svg, magnitude_frequency.svg, classification_matrix.svg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 &amp; References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H × V × E decomposes risk into estimable components from three communities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Landslide populations obey a power-law magnitude–frequency distribution (b ≈ 1.2)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Hungr et al. (2014) gives 32 named process types — use the movement × material grid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Carpathians: translational failures in flysch dominate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Norwegian fjord slopes: rock avalanches and quick-clay as additional major hazard types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course quantifies H — notebooks 02–08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12064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references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20640" y="137160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Varnes DJ (1984) USGS Open-File Rep. 84-760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Hungr O, Leroueil S, Picarelli L (2014) Landslides 11: 167-194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Malamud BD et al. (2004) Geophys. Res. Lett. 31: L15501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Wieczorek GF &amp; Glade T (2005) in: Debris-Flow Hazards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Furseth A (2006) Skredulykker i Norge. Tun Forlag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Geohazards: Introduction and Classification</dc:title>
  <dc:subject>PptxGenJS Presentation</dc:subject>
  <dc:creator>Ola Fredin (NTNU)</dc:creator>
  <cp:lastModifiedBy>Ola Fredin (NTNU)</cp:lastModifiedBy>
  <cp:revision>1</cp:revision>
  <dcterms:created xsi:type="dcterms:W3CDTF">2026-05-29T07:03:18Z</dcterms:created>
  <dcterms:modified xsi:type="dcterms:W3CDTF">2026-05-29T07:03:18Z</dcterms:modified>
</cp:coreProperties>
</file>
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Caine (1980) global</c:v>
                </c:pt>
              </c:strCache>
            </c:strRef>
          </c:tx>
          <c:spPr>
            <a:solidFill>
              <a:srgbClr val="3D6B9F"/>
            </a:solidFill>
            <a:ln w="25400" cap="flat">
              <a:solidFill>
                <a:srgbClr val="3D6B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9F"/>
              </a:solidFill>
              <a:ln w="9525" cap="flat">
                <a:solidFill>
                  <a:srgbClr val="3D6B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0.5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12</c:v>
                  </c:pt>
                  <c:pt idx="6">
                    <c:v>24</c:v>
                  </c:pt>
                  <c:pt idx="7">
                    <c:v>48</c:v>
                  </c:pt>
                  <c:pt idx="8">
                    <c:v>72</c:v>
                  </c:pt>
                  <c:pt idx="9">
                    <c:v>120</c:v>
                  </c:pt>
                  <c:pt idx="10">
                    <c:v>168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19.42</c:v>
                </c:pt>
                <c:pt idx="1">
                  <c:v>14.82</c:v>
                </c:pt>
                <c:pt idx="2">
                  <c:v>11.31</c:v>
                </c:pt>
                <c:pt idx="3">
                  <c:v>8.63</c:v>
                </c:pt>
                <c:pt idx="4">
                  <c:v>6.59</c:v>
                </c:pt>
                <c:pt idx="5">
                  <c:v>5.62</c:v>
                </c:pt>
                <c:pt idx="6">
                  <c:v>4.29</c:v>
                </c:pt>
                <c:pt idx="7">
                  <c:v>3.27</c:v>
                </c:pt>
                <c:pt idx="8">
                  <c:v>2.8</c:v>
                </c:pt>
                <c:pt idx="9">
                  <c:v>2.29</c:v>
                </c:pt>
                <c:pt idx="10">
                  <c:v>2.01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Guzzetti et al. (2008) global</c:v>
                </c:pt>
              </c:strCache>
            </c:strRef>
          </c:tx>
          <c:spPr>
            <a:solidFill>
              <a:srgbClr val="E07030"/>
            </a:solidFill>
            <a:ln w="25400" cap="flat">
              <a:solidFill>
                <a:srgbClr val="E07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030"/>
              </a:solidFill>
              <a:ln w="9525" cap="flat">
                <a:solidFill>
                  <a:srgbClr val="E07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0.5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12</c:v>
                  </c:pt>
                  <c:pt idx="6">
                    <c:v>24</c:v>
                  </c:pt>
                  <c:pt idx="7">
                    <c:v>48</c:v>
                  </c:pt>
                  <c:pt idx="8">
                    <c:v>72</c:v>
                  </c:pt>
                  <c:pt idx="9">
                    <c:v>120</c:v>
                  </c:pt>
                  <c:pt idx="10">
                    <c:v>168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3.32</c:v>
                </c:pt>
                <c:pt idx="1">
                  <c:v>2.28</c:v>
                </c:pt>
                <c:pt idx="2">
                  <c:v>1.57</c:v>
                </c:pt>
                <c:pt idx="3">
                  <c:v>1.08</c:v>
                </c:pt>
                <c:pt idx="4">
                  <c:v>0.74</c:v>
                </c:pt>
                <c:pt idx="5">
                  <c:v>0.6</c:v>
                </c:pt>
                <c:pt idx="6">
                  <c:v>0.41</c:v>
                </c:pt>
                <c:pt idx="7">
                  <c:v>0.28</c:v>
                </c:pt>
                <c:pt idx="8">
                  <c:v>0.23</c:v>
                </c:pt>
                <c:pt idx="9">
                  <c:v>0.17</c:v>
                </c:pt>
                <c:pt idx="10">
                  <c:v>0.14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Central European (Tichavský 2019)</c:v>
                </c:pt>
              </c:strCache>
            </c:strRef>
          </c:tx>
          <c:spPr>
            <a:solidFill>
              <a:srgbClr val="40A060"/>
            </a:solidFill>
            <a:ln w="25400" cap="flat">
              <a:solidFill>
                <a:srgbClr val="40A0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A060"/>
              </a:solidFill>
              <a:ln w="9525" cap="flat">
                <a:solidFill>
                  <a:srgbClr val="40A0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0.5</c:v>
                  </c:pt>
                  <c:pt idx="1">
                    <c:v>1</c:v>
                  </c:pt>
                  <c:pt idx="2">
                    <c:v>2</c:v>
                  </c:pt>
                  <c:pt idx="3">
                    <c:v>4</c:v>
                  </c:pt>
                  <c:pt idx="4">
                    <c:v>8</c:v>
                  </c:pt>
                  <c:pt idx="5">
                    <c:v>12</c:v>
                  </c:pt>
                  <c:pt idx="6">
                    <c:v>24</c:v>
                  </c:pt>
                  <c:pt idx="7">
                    <c:v>48</c:v>
                  </c:pt>
                  <c:pt idx="8">
                    <c:v>72</c:v>
                  </c:pt>
                  <c:pt idx="9">
                    <c:v>120</c:v>
                  </c:pt>
                  <c:pt idx="10">
                    <c:v>168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5.4</c:v>
                </c:pt>
                <c:pt idx="1">
                  <c:v>3.9</c:v>
                </c:pt>
                <c:pt idx="2">
                  <c:v>2.82</c:v>
                </c:pt>
                <c:pt idx="3">
                  <c:v>2.03</c:v>
                </c:pt>
                <c:pt idx="4">
                  <c:v>1.47</c:v>
                </c:pt>
                <c:pt idx="5">
                  <c:v>1.21</c:v>
                </c:pt>
                <c:pt idx="6">
                  <c:v>0.88</c:v>
                </c:pt>
                <c:pt idx="7">
                  <c:v>0.63</c:v>
                </c:pt>
                <c:pt idx="8">
                  <c:v>0.52</c:v>
                </c:pt>
                <c:pt idx="9">
                  <c:v>0.41</c:v>
                </c:pt>
                <c:pt idx="10">
                  <c:v>0.35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Duration D (hours)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Mean Intensity I (mm/h)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Triggering of Slope Failures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time to the stability equation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Session 2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Rainfall: the dominant trigger worldwide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drives &gt;50% of all landslides globally; in humid mountain belts the fraction is &gt;90%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02–04 built the mechanism: rain infiltrates → u rises → σ′ falls → FS &lt;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adds: TIME — rainfall has intensity, duration, and aftermath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responds with a delayed pore-pressure pulse; forecasting failure = forecasting when that pulse drives FS below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tools: (1) Iverson (2000) diffusion model (physical, site-specific); (2) Intensity–Duration thresholds (empirical, regional)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time-scales of response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regimes of rainfall-driven failure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(minutes–hours): short high-intensity burst on shallow, conductive soil over impermeable bedrock — Alpine debris cones during convective storms; z ≈ 0.5–1.5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(hours–days): classic shallow translational slide on flysch / glacial till — rising water table over days of moderate rain; dominant in Carpathians, Sudetes, Norwegian fjords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(weeks–months): deep-seated rotational slides in clay-rich terrain; z = tens of metres; failure tracks seasonal groundwater peak, not individual storms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regimes need different forecasting tools: ID thresholds for first two; piezometer-based EWS for deep-seated slides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rainfall_three_timesc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Three-panel schematic: same hyetograph + FS(t) plotted on time axes of hours, days and months. After Wieczorek &amp; Glade (2005).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Iverson (2000) infiltration model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Pore-pressure diffusion during a storm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(2000): pore-pressure response governed by 1-D linear diffusion: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∂ψ/∂t  =  D · ∂²ψ/∂z²,    D = K_z / 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hydraulic diffusivity (m²/s);  K_z — vertical saturated hydraulic conductivity;  S — specific storage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time-scale at depth z: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374136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74136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τ(z)  =  z² / 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 m, D = 10⁻³ m²/s (sandy gravel): τ ≈ 2.5 hours  (immediate response)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000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3 m, D = 10⁻⁶ m²/s (silt): τ ≈ 100 days  (delayed response)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157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pore-pressure rise for constant rainfall I &lt; K_z: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5632704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63270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Δψ_ss  =  I z / K_z · cos²β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RM (2000) Water Resour. Res. 36: 1897-1910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pore pressure to FS time series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time step: σ′(t) = σ_n − u(t);   τ_f(t) = c′ + σ′(t) tanφ′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FS(t) = τ_f(t) / τ  — the factor of safety is now a time series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starts above 1.0 (stable); falls during the storm; may cross 1.0; recovers after drainage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failure = when FS first reaches 1.0 from above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TRIGRS: runs the Iverson model on every DEM cell simultaneously → FS map evolving during storm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needs K_z, D, c′, φ′, γ for each soil unit (site investigation or literature)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Intensity–Duration thresholds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ID threshold?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lower envelope in log(I)–log(D) space below which no landslides have been triggered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rainfall intensity (mm/h);  D — storm duration (h)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form:  I = α · D^(−β)   with β ≈ 0.5–0.8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landslide event inventory + associated rainfall records; fit the lower envelope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validity: depends on climate, soil type, slope geometry — cannot transfer globally without recalibration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use: national EWS compare real-time gauge data to the threshold → alert levels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Intensity–Duration thresholds: global and Central European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Landslide-triggering events plot above the line.  Caine (1980) Geografiska Annaler; Guzzetti et al. (2008) Earth-Sci. Rev.; Tichavský et al. (2019) Geomorphology.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systems in Central Europe and Norway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 Geological Survey: threshold-based EWS covering ~90,000 km² of flysch belt; SMS alerts to municipalities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Geological Institute: OSTRZEGA system — threshold + geological map; Carpathian focus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 (Norway): continuous monitoring for hazardous sites — GPS, extensometers, piezometers, seismometers + multi-parameter threshold matrix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0–12 hours for shallow slides; deep-seated systems may provide days of warning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ID thresholds define alert levels, not binary go/no-go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EWS output → emergency services and road/rail closure protocols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Triggering of Slope Failures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Iverson (2000) model: specify K_z, D, z, storm intensity and duration → plot Δu(t) and FS(t)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D (hydraulic diffusivity) controls response time — fast vs slow soils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three ID threshold curves (Caine, Guzzetti, Central European) on log–log axes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Carpathian flysch — 48-hour frontal rain + 24-hour aftermath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rainfall_pore_pressure_response.svg, fs_time_series.svg, id_thresholds.svg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time-scales: immediate (hrs), sustained (days), delayed (weeks–months)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(2000): pore pressure governed by 1-D diffusion; D = K_z/S controls time-scale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FS(t): translate pore-pressure time series into a stability time series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threshold: I = α D^(−β) — empirical lower envelope for landslide-triggering rainfall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European threshold: I ≈ 3.9 D^(−0.47)  (Tichavský et al. 2019)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EWS: Czech CGS, Polish PGI-NRI, NVE Norway all use threshold-based alert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Iverson RM (2000) Water Resour. Res. 36: 1897-1910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Caine N (1980) Geografiska Annaler 62A: 23-27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Guzzetti F et al. (2007) Earth-Sci. Rev. 83: 135-152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Guzzetti F et al. (2008) Nat. Hazards Earth Syst. Sci. 8: 1521-1538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Tichavský R et al. (2019) Geomorphology 329: 1-13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Wieczorek GF &amp; Glade T (2005) in: Jakob M &amp; Hungr O (eds) Debris-Flow Hazards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Rainfall Triggering of Slope Failures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